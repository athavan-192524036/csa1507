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82" r:id="rId4"/>
    <p:sldId id="274" r:id="rId5"/>
    <p:sldId id="283" r:id="rId6"/>
    <p:sldId id="284" r:id="rId7"/>
    <p:sldId id="294" r:id="rId8"/>
    <p:sldId id="295" r:id="rId9"/>
    <p:sldId id="301" r:id="rId10"/>
    <p:sldId id="296" r:id="rId11"/>
    <p:sldId id="300" r:id="rId12"/>
    <p:sldId id="297" r:id="rId13"/>
    <p:sldId id="302" r:id="rId14"/>
    <p:sldId id="298" r:id="rId15"/>
    <p:sldId id="299" r:id="rId16"/>
    <p:sldId id="271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725A8F-AC85-4E4C-8114-A19C29005C8B}" v="21" dt="2026-09-01T08:16:33.41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76" autoAdjust="0"/>
    <p:restoredTop sz="94622" autoAdjust="0"/>
  </p:normalViewPr>
  <p:slideViewPr>
    <p:cSldViewPr>
      <p:cViewPr varScale="1">
        <p:scale>
          <a:sx n="55" d="100"/>
          <a:sy n="55" d="100"/>
        </p:scale>
        <p:origin x="82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van K" userId="fd0a8d76ee7dd65d" providerId="LiveId" clId="{F40DBB89-3B72-4301-9A1F-CD9040781D36}"/>
    <pc:docChg chg="undo custSel addSld delSld modSld sldOrd">
      <pc:chgData name="Athavan K" userId="fd0a8d76ee7dd65d" providerId="LiveId" clId="{F40DBB89-3B72-4301-9A1F-CD9040781D36}" dt="2026-09-01T08:20:34.440" v="833" actId="2711"/>
      <pc:docMkLst>
        <pc:docMk/>
      </pc:docMkLst>
      <pc:sldChg chg="addSp modSp new mod">
        <pc:chgData name="Athavan K" userId="fd0a8d76ee7dd65d" providerId="LiveId" clId="{F40DBB89-3B72-4301-9A1F-CD9040781D36}" dt="2026-08-31T13:37:13.196" v="581" actId="20577"/>
        <pc:sldMkLst>
          <pc:docMk/>
          <pc:sldMk cId="559661800" sldId="295"/>
        </pc:sldMkLst>
        <pc:spChg chg="add mod">
          <ac:chgData name="Athavan K" userId="fd0a8d76ee7dd65d" providerId="LiveId" clId="{F40DBB89-3B72-4301-9A1F-CD9040781D36}" dt="2026-08-31T13:37:13.196" v="581" actId="20577"/>
          <ac:spMkLst>
            <pc:docMk/>
            <pc:sldMk cId="559661800" sldId="295"/>
            <ac:spMk id="3" creationId="{D0409479-DB58-A258-ACC8-5136D5B34D8C}"/>
          </ac:spMkLst>
        </pc:spChg>
      </pc:sldChg>
      <pc:sldChg chg="addSp modSp mod ord">
        <pc:chgData name="Athavan K" userId="fd0a8d76ee7dd65d" providerId="LiveId" clId="{F40DBB89-3B72-4301-9A1F-CD9040781D36}" dt="2026-08-31T13:38:57.320" v="606"/>
        <pc:sldMkLst>
          <pc:docMk/>
          <pc:sldMk cId="1561474391" sldId="296"/>
        </pc:sldMkLst>
        <pc:spChg chg="mod">
          <ac:chgData name="Athavan K" userId="fd0a8d76ee7dd65d" providerId="LiveId" clId="{F40DBB89-3B72-4301-9A1F-CD9040781D36}" dt="2026-08-31T13:38:48.815" v="602" actId="1076"/>
          <ac:spMkLst>
            <pc:docMk/>
            <pc:sldMk cId="1561474391" sldId="296"/>
            <ac:spMk id="6" creationId="{FC3FAB85-69CE-200B-67C6-E6BA52C206FE}"/>
          </ac:spMkLst>
        </pc:spChg>
        <pc:spChg chg="add mod">
          <ac:chgData name="Athavan K" userId="fd0a8d76ee7dd65d" providerId="LiveId" clId="{F40DBB89-3B72-4301-9A1F-CD9040781D36}" dt="2026-08-31T13:38:33.803" v="601" actId="1076"/>
          <ac:spMkLst>
            <pc:docMk/>
            <pc:sldMk cId="1561474391" sldId="296"/>
            <ac:spMk id="7" creationId="{34D5B438-DA6C-E665-ECD4-4F7B3E228D67}"/>
          </ac:spMkLst>
        </pc:spChg>
      </pc:sldChg>
      <pc:sldChg chg="new del">
        <pc:chgData name="Athavan K" userId="fd0a8d76ee7dd65d" providerId="LiveId" clId="{F40DBB89-3B72-4301-9A1F-CD9040781D36}" dt="2026-08-31T14:03:11.709" v="607" actId="47"/>
        <pc:sldMkLst>
          <pc:docMk/>
          <pc:sldMk cId="3308978541" sldId="297"/>
        </pc:sldMkLst>
      </pc:sldChg>
      <pc:sldChg chg="addSp modSp new mod ord">
        <pc:chgData name="Athavan K" userId="fd0a8d76ee7dd65d" providerId="LiveId" clId="{F40DBB89-3B72-4301-9A1F-CD9040781D36}" dt="2026-09-01T08:10:53.452" v="772"/>
        <pc:sldMkLst>
          <pc:docMk/>
          <pc:sldMk cId="3377320411" sldId="297"/>
        </pc:sldMkLst>
        <pc:spChg chg="add mod">
          <ac:chgData name="Athavan K" userId="fd0a8d76ee7dd65d" providerId="LiveId" clId="{F40DBB89-3B72-4301-9A1F-CD9040781D36}" dt="2026-09-01T06:08:01.502" v="695" actId="1076"/>
          <ac:spMkLst>
            <pc:docMk/>
            <pc:sldMk cId="3377320411" sldId="297"/>
            <ac:spMk id="3" creationId="{B6155662-7F2A-912D-28E5-B7710A27B9FD}"/>
          </ac:spMkLst>
        </pc:spChg>
        <pc:spChg chg="add">
          <ac:chgData name="Athavan K" userId="fd0a8d76ee7dd65d" providerId="LiveId" clId="{F40DBB89-3B72-4301-9A1F-CD9040781D36}" dt="2026-09-01T06:04:32.364" v="667" actId="22"/>
          <ac:spMkLst>
            <pc:docMk/>
            <pc:sldMk cId="3377320411" sldId="297"/>
            <ac:spMk id="5" creationId="{21306EC6-2C93-0167-B44F-0D8137F1EF95}"/>
          </ac:spMkLst>
        </pc:spChg>
        <pc:spChg chg="add">
          <ac:chgData name="Athavan K" userId="fd0a8d76ee7dd65d" providerId="LiveId" clId="{F40DBB89-3B72-4301-9A1F-CD9040781D36}" dt="2026-09-01T06:04:42.209" v="670" actId="22"/>
          <ac:spMkLst>
            <pc:docMk/>
            <pc:sldMk cId="3377320411" sldId="297"/>
            <ac:spMk id="7" creationId="{85CE1474-82E0-7D85-53B6-60418CB19309}"/>
          </ac:spMkLst>
        </pc:spChg>
        <pc:spChg chg="add mod">
          <ac:chgData name="Athavan K" userId="fd0a8d76ee7dd65d" providerId="LiveId" clId="{F40DBB89-3B72-4301-9A1F-CD9040781D36}" dt="2026-09-01T06:09:28.912" v="717" actId="1076"/>
          <ac:spMkLst>
            <pc:docMk/>
            <pc:sldMk cId="3377320411" sldId="297"/>
            <ac:spMk id="8" creationId="{61EE524E-E4C3-F336-D06A-F4201418EF4A}"/>
          </ac:spMkLst>
        </pc:spChg>
      </pc:sldChg>
      <pc:sldChg chg="new del">
        <pc:chgData name="Athavan K" userId="fd0a8d76ee7dd65d" providerId="LiveId" clId="{F40DBB89-3B72-4301-9A1F-CD9040781D36}" dt="2026-08-31T14:03:14.676" v="608" actId="47"/>
        <pc:sldMkLst>
          <pc:docMk/>
          <pc:sldMk cId="395976573" sldId="298"/>
        </pc:sldMkLst>
      </pc:sldChg>
      <pc:sldChg chg="addSp modSp new mod ord">
        <pc:chgData name="Athavan K" userId="fd0a8d76ee7dd65d" providerId="LiveId" clId="{F40DBB89-3B72-4301-9A1F-CD9040781D36}" dt="2026-09-01T06:07:24.158" v="692" actId="1076"/>
        <pc:sldMkLst>
          <pc:docMk/>
          <pc:sldMk cId="2634499459" sldId="298"/>
        </pc:sldMkLst>
        <pc:spChg chg="add mod">
          <ac:chgData name="Athavan K" userId="fd0a8d76ee7dd65d" providerId="LiveId" clId="{F40DBB89-3B72-4301-9A1F-CD9040781D36}" dt="2026-09-01T06:06:58.268" v="688" actId="255"/>
          <ac:spMkLst>
            <pc:docMk/>
            <pc:sldMk cId="2634499459" sldId="298"/>
            <ac:spMk id="3" creationId="{0F4758DA-E340-9412-2B0C-76C4B4797AA5}"/>
          </ac:spMkLst>
        </pc:spChg>
        <pc:spChg chg="add">
          <ac:chgData name="Athavan K" userId="fd0a8d76ee7dd65d" providerId="LiveId" clId="{F40DBB89-3B72-4301-9A1F-CD9040781D36}" dt="2026-09-01T06:04:29.939" v="666" actId="22"/>
          <ac:spMkLst>
            <pc:docMk/>
            <pc:sldMk cId="2634499459" sldId="298"/>
            <ac:spMk id="5" creationId="{37A43F30-C473-D4B4-8A9F-858D40354BD8}"/>
          </ac:spMkLst>
        </pc:spChg>
        <pc:spChg chg="add">
          <ac:chgData name="Athavan K" userId="fd0a8d76ee7dd65d" providerId="LiveId" clId="{F40DBB89-3B72-4301-9A1F-CD9040781D36}" dt="2026-09-01T06:04:44.124" v="671" actId="22"/>
          <ac:spMkLst>
            <pc:docMk/>
            <pc:sldMk cId="2634499459" sldId="298"/>
            <ac:spMk id="7" creationId="{DAD97241-CF0F-E89F-FCF0-1FE91E407F93}"/>
          </ac:spMkLst>
        </pc:spChg>
        <pc:spChg chg="add mod">
          <ac:chgData name="Athavan K" userId="fd0a8d76ee7dd65d" providerId="LiveId" clId="{F40DBB89-3B72-4301-9A1F-CD9040781D36}" dt="2026-09-01T06:07:24.158" v="692" actId="1076"/>
          <ac:spMkLst>
            <pc:docMk/>
            <pc:sldMk cId="2634499459" sldId="298"/>
            <ac:spMk id="8" creationId="{ADD8AF85-9AC3-4D93-4D90-445E10BA3E0C}"/>
          </ac:spMkLst>
        </pc:spChg>
      </pc:sldChg>
      <pc:sldChg chg="addSp modSp new mod">
        <pc:chgData name="Athavan K" userId="fd0a8d76ee7dd65d" providerId="LiveId" clId="{F40DBB89-3B72-4301-9A1F-CD9040781D36}" dt="2026-09-01T06:10:50.438" v="762" actId="1076"/>
        <pc:sldMkLst>
          <pc:docMk/>
          <pc:sldMk cId="3835160963" sldId="299"/>
        </pc:sldMkLst>
        <pc:spChg chg="add mod">
          <ac:chgData name="Athavan K" userId="fd0a8d76ee7dd65d" providerId="LiveId" clId="{F40DBB89-3B72-4301-9A1F-CD9040781D36}" dt="2026-09-01T06:09:52.524" v="720" actId="1076"/>
          <ac:spMkLst>
            <pc:docMk/>
            <pc:sldMk cId="3835160963" sldId="299"/>
            <ac:spMk id="3" creationId="{93BCC574-B519-2702-DC69-05E5B13367AF}"/>
          </ac:spMkLst>
        </pc:spChg>
        <pc:spChg chg="add">
          <ac:chgData name="Athavan K" userId="fd0a8d76ee7dd65d" providerId="LiveId" clId="{F40DBB89-3B72-4301-9A1F-CD9040781D36}" dt="2026-09-01T06:04:34.653" v="668" actId="22"/>
          <ac:spMkLst>
            <pc:docMk/>
            <pc:sldMk cId="3835160963" sldId="299"/>
            <ac:spMk id="5" creationId="{4F47C811-4FD7-0D7F-1F07-DDC456854A1D}"/>
          </ac:spMkLst>
        </pc:spChg>
        <pc:spChg chg="add">
          <ac:chgData name="Athavan K" userId="fd0a8d76ee7dd65d" providerId="LiveId" clId="{F40DBB89-3B72-4301-9A1F-CD9040781D36}" dt="2026-09-01T06:04:40.946" v="669" actId="22"/>
          <ac:spMkLst>
            <pc:docMk/>
            <pc:sldMk cId="3835160963" sldId="299"/>
            <ac:spMk id="7" creationId="{81757443-073B-EA14-8899-91BE1F6F6469}"/>
          </ac:spMkLst>
        </pc:spChg>
        <pc:spChg chg="add mod">
          <ac:chgData name="Athavan K" userId="fd0a8d76ee7dd65d" providerId="LiveId" clId="{F40DBB89-3B72-4301-9A1F-CD9040781D36}" dt="2026-09-01T06:10:50.438" v="762" actId="1076"/>
          <ac:spMkLst>
            <pc:docMk/>
            <pc:sldMk cId="3835160963" sldId="299"/>
            <ac:spMk id="8" creationId="{4ECCF3DD-BBFE-284F-9EF2-A56B31DBAACC}"/>
          </ac:spMkLst>
        </pc:spChg>
      </pc:sldChg>
      <pc:sldChg chg="addSp modSp new mod">
        <pc:chgData name="Athavan K" userId="fd0a8d76ee7dd65d" providerId="LiveId" clId="{F40DBB89-3B72-4301-9A1F-CD9040781D36}" dt="2026-09-01T07:57:31.287" v="766" actId="1076"/>
        <pc:sldMkLst>
          <pc:docMk/>
          <pc:sldMk cId="3427926126" sldId="300"/>
        </pc:sldMkLst>
        <pc:picChg chg="add mod">
          <ac:chgData name="Athavan K" userId="fd0a8d76ee7dd65d" providerId="LiveId" clId="{F40DBB89-3B72-4301-9A1F-CD9040781D36}" dt="2026-09-01T07:57:31.287" v="766" actId="1076"/>
          <ac:picMkLst>
            <pc:docMk/>
            <pc:sldMk cId="3427926126" sldId="300"/>
            <ac:picMk id="4" creationId="{F63188F5-460C-AACA-E801-3B8FB5342823}"/>
          </ac:picMkLst>
        </pc:picChg>
      </pc:sldChg>
      <pc:sldChg chg="addSp modSp new mod">
        <pc:chgData name="Athavan K" userId="fd0a8d76ee7dd65d" providerId="LiveId" clId="{F40DBB89-3B72-4301-9A1F-CD9040781D36}" dt="2026-09-01T07:58:27.963" v="770" actId="1076"/>
        <pc:sldMkLst>
          <pc:docMk/>
          <pc:sldMk cId="387299677" sldId="301"/>
        </pc:sldMkLst>
        <pc:picChg chg="add mod">
          <ac:chgData name="Athavan K" userId="fd0a8d76ee7dd65d" providerId="LiveId" clId="{F40DBB89-3B72-4301-9A1F-CD9040781D36}" dt="2026-09-01T07:58:27.963" v="770" actId="1076"/>
          <ac:picMkLst>
            <pc:docMk/>
            <pc:sldMk cId="387299677" sldId="301"/>
            <ac:picMk id="4" creationId="{05877211-D5B0-0133-362F-0E1C37352DCC}"/>
          </ac:picMkLst>
        </pc:picChg>
      </pc:sldChg>
      <pc:sldChg chg="addSp delSp modSp new mod">
        <pc:chgData name="Athavan K" userId="fd0a8d76ee7dd65d" providerId="LiveId" clId="{F40DBB89-3B72-4301-9A1F-CD9040781D36}" dt="2026-09-01T08:20:34.440" v="833" actId="2711"/>
        <pc:sldMkLst>
          <pc:docMk/>
          <pc:sldMk cId="2963394566" sldId="302"/>
        </pc:sldMkLst>
        <pc:spChg chg="mod">
          <ac:chgData name="Athavan K" userId="fd0a8d76ee7dd65d" providerId="LiveId" clId="{F40DBB89-3B72-4301-9A1F-CD9040781D36}" dt="2026-09-01T08:14:03.626" v="781" actId="2711"/>
          <ac:spMkLst>
            <pc:docMk/>
            <pc:sldMk cId="2963394566" sldId="302"/>
            <ac:spMk id="2" creationId="{0C3AF00A-45CC-9E06-36DB-EAECBF91526C}"/>
          </ac:spMkLst>
        </pc:spChg>
        <pc:spChg chg="add del mod">
          <ac:chgData name="Athavan K" userId="fd0a8d76ee7dd65d" providerId="LiveId" clId="{F40DBB89-3B72-4301-9A1F-CD9040781D36}" dt="2026-09-01T08:14:12.421" v="783"/>
          <ac:spMkLst>
            <pc:docMk/>
            <pc:sldMk cId="2963394566" sldId="302"/>
            <ac:spMk id="4" creationId="{81AEA707-E8F2-E043-B581-9A8C65092DC9}"/>
          </ac:spMkLst>
        </pc:spChg>
        <pc:spChg chg="add">
          <ac:chgData name="Athavan K" userId="fd0a8d76ee7dd65d" providerId="LiveId" clId="{F40DBB89-3B72-4301-9A1F-CD9040781D36}" dt="2026-09-01T08:14:46.941" v="789" actId="22"/>
          <ac:spMkLst>
            <pc:docMk/>
            <pc:sldMk cId="2963394566" sldId="302"/>
            <ac:spMk id="6" creationId="{D5912570-2CE0-4E98-44A9-08C5CEB0D5EB}"/>
          </ac:spMkLst>
        </pc:spChg>
        <pc:spChg chg="add">
          <ac:chgData name="Athavan K" userId="fd0a8d76ee7dd65d" providerId="LiveId" clId="{F40DBB89-3B72-4301-9A1F-CD9040781D36}" dt="2026-09-01T08:14:53.993" v="790" actId="22"/>
          <ac:spMkLst>
            <pc:docMk/>
            <pc:sldMk cId="2963394566" sldId="302"/>
            <ac:spMk id="8" creationId="{ACC66AFB-9821-8B85-333F-E53ED5FC02FC}"/>
          </ac:spMkLst>
        </pc:spChg>
        <pc:spChg chg="add mod">
          <ac:chgData name="Athavan K" userId="fd0a8d76ee7dd65d" providerId="LiveId" clId="{F40DBB89-3B72-4301-9A1F-CD9040781D36}" dt="2026-09-01T08:15:24.614" v="811" actId="1076"/>
          <ac:spMkLst>
            <pc:docMk/>
            <pc:sldMk cId="2963394566" sldId="302"/>
            <ac:spMk id="9" creationId="{86808F3F-835A-7865-045B-0BCFA80E86E7}"/>
          </ac:spMkLst>
        </pc:spChg>
        <pc:graphicFrameChg chg="add mod modGraphic">
          <ac:chgData name="Athavan K" userId="fd0a8d76ee7dd65d" providerId="LiveId" clId="{F40DBB89-3B72-4301-9A1F-CD9040781D36}" dt="2026-09-01T08:20:34.440" v="833" actId="2711"/>
          <ac:graphicFrameMkLst>
            <pc:docMk/>
            <pc:sldMk cId="2963394566" sldId="302"/>
            <ac:graphicFrameMk id="3" creationId="{DE37D427-E854-A48A-39D6-5EBD23122D7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DA97A0-E165-AC58-9B36-BA7BB4F7CE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7D99D-C451-6C6C-F7B8-2BB5D393E4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13BE1-84D1-4153-8EF8-3BC4714FA7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60D15-66B2-A7D6-1DD4-161E0352C7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B8107-C644-E70A-455E-83F8885DF0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8BEA4-3722-4E40-8969-95F548E02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911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E0C07-4ECA-4CAF-BF9B-CE69E0EBBAF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0CA88-6CBC-4381-9999-2D560C378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99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35CC3-2836-14CD-3FC0-FC6C2AD98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475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A3FF2-8B0E-7109-5D39-E6A4CF54F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2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496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7AE8-D885-4584-A5A8-14F6625B4D3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6E964-6B4F-45B6-852F-24972C15092A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89D42-946A-434D-A79B-D9D4BF5FD208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410FE-A5DE-44A8-9610-86B02ABF0D42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FBE4-D36E-4C9D-907F-8D44A2619840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3923-89E7-4AE5-9F6A-B0F5AE0CAEAC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88FA-665E-4582-88F3-42CEC83C15C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5DCFB-3279-4B72-AE30-BB9D4C44FBA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D71C-5440-4494-B8A1-CE439D859C5F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1757-7FED-4A50-88D3-AF943CEA58B0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92F5-E066-44F9-AD2F-B2978635BC8F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65E6C-E8DA-45FC-9E06-08A22CB19031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7281" y="0"/>
            <a:ext cx="3088591" cy="10287000"/>
            <a:chOff x="0" y="0"/>
            <a:chExt cx="81345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3725255" y="7105272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10" y="0"/>
                </a:lnTo>
                <a:lnTo>
                  <a:pt x="7450510" y="7450510"/>
                </a:lnTo>
                <a:lnTo>
                  <a:pt x="0" y="7450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06625" y="-4304799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09" y="0"/>
                </a:lnTo>
                <a:lnTo>
                  <a:pt x="7450509" y="7450509"/>
                </a:lnTo>
                <a:lnTo>
                  <a:pt x="0" y="7450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808338" y="573147"/>
            <a:ext cx="11301259" cy="1455037"/>
          </a:xfrm>
          <a:custGeom>
            <a:avLst/>
            <a:gdLst/>
            <a:ahLst/>
            <a:cxnLst/>
            <a:rect l="l" t="t" r="r" b="b"/>
            <a:pathLst>
              <a:path w="11301259" h="1455037">
                <a:moveTo>
                  <a:pt x="0" y="0"/>
                </a:moveTo>
                <a:lnTo>
                  <a:pt x="11301259" y="0"/>
                </a:lnTo>
                <a:lnTo>
                  <a:pt x="11301259" y="1455037"/>
                </a:lnTo>
                <a:lnTo>
                  <a:pt x="0" y="1455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667000" y="6896100"/>
            <a:ext cx="662695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3200" u="none" strike="noStrike" dirty="0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Athavan k(192524036)</a:t>
            </a:r>
            <a:endParaRPr lang="en-US" sz="3200" u="none" strike="noStrike" dirty="0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56236" y="5371231"/>
            <a:ext cx="12115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CSA1507</a:t>
            </a:r>
          </a:p>
          <a:p>
            <a:pPr algn="l">
              <a:lnSpc>
                <a:spcPts val="364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Name: Cloud Computing and Big Data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EE17D-B4B6-ABFA-CEC5-99EF084C8B3D}"/>
              </a:ext>
            </a:extLst>
          </p:cNvPr>
          <p:cNvSpPr txBox="1"/>
          <p:nvPr/>
        </p:nvSpPr>
        <p:spPr>
          <a:xfrm>
            <a:off x="2985318" y="2518576"/>
            <a:ext cx="123173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 err="1">
                <a:solidFill>
                  <a:schemeClr val="tx2"/>
                </a:solidFill>
                <a:latin typeface="Times New Roman "/>
              </a:rPr>
              <a:t>ZeroWaste</a:t>
            </a:r>
            <a:r>
              <a:rPr lang="en-US" sz="5400" b="1" dirty="0">
                <a:solidFill>
                  <a:schemeClr val="tx2"/>
                </a:solidFill>
                <a:latin typeface="Times New Roman "/>
              </a:rPr>
              <a:t> Connect: Cloud-Based Food Redistribution System</a:t>
            </a:r>
            <a:endParaRPr lang="en-IN" sz="5400" b="1" dirty="0">
              <a:solidFill>
                <a:schemeClr val="tx2"/>
              </a:solidFill>
              <a:latin typeface="Times New Roman 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CF6393-B220-1E9E-5AF3-7E9E56AC5F02}"/>
              </a:ext>
            </a:extLst>
          </p:cNvPr>
          <p:cNvSpPr txBox="1"/>
          <p:nvPr/>
        </p:nvSpPr>
        <p:spPr>
          <a:xfrm>
            <a:off x="11753625" y="6896100"/>
            <a:ext cx="4953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 "/>
              </a:rPr>
              <a:t>Under the supervision: </a:t>
            </a:r>
          </a:p>
          <a:p>
            <a:endParaRPr lang="en-US" sz="3200" dirty="0">
              <a:latin typeface="Times New Roman "/>
            </a:endParaRPr>
          </a:p>
          <a:p>
            <a:r>
              <a:rPr lang="en-US" sz="3200" dirty="0">
                <a:latin typeface="Times New Roman "/>
              </a:rPr>
              <a:t>Dr. Anuradha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8E7C-BBC5-E032-DD4B-510A06CC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0601" y="497095"/>
            <a:ext cx="6546798" cy="1082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43"/>
              </a:lnSpc>
              <a:spcBef>
                <a:spcPct val="0"/>
              </a:spcBef>
            </a:pPr>
            <a:r>
              <a:rPr lang="en-US" sz="7200" u="none" strike="noStrike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34635" y="58148"/>
            <a:ext cx="948990" cy="10287000"/>
            <a:chOff x="0" y="0"/>
            <a:chExt cx="813456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-2421094" y="4207228"/>
            <a:ext cx="8543440" cy="1872544"/>
          </a:xfrm>
          <a:custGeom>
            <a:avLst/>
            <a:gdLst/>
            <a:ahLst/>
            <a:cxnLst/>
            <a:rect l="l" t="t" r="r" b="b"/>
            <a:pathLst>
              <a:path w="8543440" h="1872544">
                <a:moveTo>
                  <a:pt x="0" y="0"/>
                </a:moveTo>
                <a:lnTo>
                  <a:pt x="8543440" y="0"/>
                </a:lnTo>
                <a:lnTo>
                  <a:pt x="8543440" y="1872544"/>
                </a:lnTo>
                <a:lnTo>
                  <a:pt x="0" y="1872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3852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52A0C55-59A9-3AD7-1AB0-A7B15190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173" y="1873799"/>
            <a:ext cx="15174835" cy="8094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waste is a major global challenge, while millions of people still suffer from hunger and food insecurity.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Restaurants, hotels, supermarkets, and event organizers often have surplus edible food that is discarded due to the lack of an efficient redistribution system.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ZeroWaste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is a cloud-based platform that connects food donors with NGOs and food banks in real time.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donors to upload surplus food details, and nearby NGOs receive instant notifications to collect the food before it expires.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E8FD4-AAE6-7682-A7AC-FE2C2890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D7377-0BC6-C96D-191D-AF98A9539E5B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2</a:t>
            </a:r>
            <a:endParaRPr lang="en-IN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115815-C8E8-A9F6-D3DF-B23625E2D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939678"/>
              </p:ext>
            </p:extLst>
          </p:nvPr>
        </p:nvGraphicFramePr>
        <p:xfrm>
          <a:off x="533400" y="1638300"/>
          <a:ext cx="17554172" cy="86818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76272">
                  <a:extLst>
                    <a:ext uri="{9D8B030D-6E8A-4147-A177-3AD203B41FA5}">
                      <a16:colId xmlns:a16="http://schemas.microsoft.com/office/drawing/2014/main" val="1162326249"/>
                    </a:ext>
                  </a:extLst>
                </a:gridCol>
                <a:gridCol w="2509500">
                  <a:extLst>
                    <a:ext uri="{9D8B030D-6E8A-4147-A177-3AD203B41FA5}">
                      <a16:colId xmlns:a16="http://schemas.microsoft.com/office/drawing/2014/main" val="40593161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9291480"/>
                    </a:ext>
                  </a:extLst>
                </a:gridCol>
                <a:gridCol w="3390832">
                  <a:extLst>
                    <a:ext uri="{9D8B030D-6E8A-4147-A177-3AD203B41FA5}">
                      <a16:colId xmlns:a16="http://schemas.microsoft.com/office/drawing/2014/main" val="2710288737"/>
                    </a:ext>
                  </a:extLst>
                </a:gridCol>
                <a:gridCol w="6972368">
                  <a:extLst>
                    <a:ext uri="{9D8B030D-6E8A-4147-A177-3AD203B41FA5}">
                      <a16:colId xmlns:a16="http://schemas.microsoft.com/office/drawing/2014/main" val="3815457629"/>
                    </a:ext>
                  </a:extLst>
                </a:gridCol>
              </a:tblGrid>
              <a:tr h="559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32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201678"/>
                  </a:ext>
                </a:extLst>
              </a:tr>
              <a:tr h="154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Niina Sundin, Christine Persson Osowski, Ingrid Strid &amp; Mattias Eriksson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Surplus Food Donation: Effectiveness, Carbon Footprint, and Rebound 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donation reduced food waste and achieved nearly twice the climate benefit of anaerobic digestion.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was based on a single charity in Sweden, making it difficult to generalize the findings to other countries. It also noted that rebound effects can reduce some of the environmental benefits.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370033"/>
                  </a:ext>
                </a:extLst>
              </a:tr>
              <a:tr h="154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V. Pimple, S. Ambulkar, V. Sandalwar, B. Mendhe &amp; H. Dadmal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Donation Management System with Real-Time User Data Tracking by Local Admin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cloud-based food donation platform with real-time tracking to improve coordination between donors and NGOs.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focuses mainly on tracking and administration, with limited features for intelligent donor-recipient matching, route optimization, and demand prediction.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082676"/>
                  </a:ext>
                </a:extLst>
              </a:tr>
              <a:tr h="167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Lakshmi Devaraj &amp; P. Balasubramanian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Optimizing the Redistribution of Surplus Food in the Hospitality Sector: A Paradigm Shift Through the Implementation of Food Donation Systems for a Sustainable Future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that digital food donation systems improve surplus food redistribution and support sustainability in the hospitality sector.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work primarily targets the hospitality industry and does not address large-scale integration with multiple stakeholders or advanced cloud analytics.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661241"/>
                  </a:ext>
                </a:extLst>
              </a:tr>
              <a:tr h="154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Adarsh Karanth, Anand Kumar Hemareddy, Chethana G. T., Gowtham N. &amp; Harshad Vilas Magadum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Web-Based Food Donation and Redistribution Platform for Efficient Surplus Food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web-based platform that simplifies food donation and improves communication between donors and recipients.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platform lacks AI-based recommendation, real-time logistics optimization, and scalability analysis for nationwide deployment.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673745"/>
                  </a:ext>
                </a:extLst>
              </a:tr>
              <a:tr h="167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Nowshin Sharmile, Isaac A. Nuamah, Lauren Davis, Funda Samanlioglu, Steven Jiang &amp; Carter Crain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and Optimizing the Fair Allocation of Donations in Hunger Relief Supply Chains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optimization models to improve fairness and efficiency in distributing donated food among food banks.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research focuses on allocation optimization and does not provide a complete cloud-based donation platform with donor and NGO interaction.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0702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BD9380-5D1C-42FC-7AF9-04B94F188F73}"/>
              </a:ext>
            </a:extLst>
          </p:cNvPr>
          <p:cNvSpPr txBox="1"/>
          <p:nvPr/>
        </p:nvSpPr>
        <p:spPr>
          <a:xfrm>
            <a:off x="5029200" y="363683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6600" dirty="0"/>
              <a:t> SURVEY</a:t>
            </a:r>
            <a:endParaRPr lang="en-IN" sz="6600" dirty="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8B643E56-5BAC-A530-6ADC-4986B4B85D83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022130C4-BDF0-996D-86E6-982EE1540E67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1A652C-A6AA-2EAE-53B3-5FB4E3EB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9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F969B5C8-FB5B-9C52-8B7E-7E3013ACB6B1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A042D3C2-E683-B793-33A8-135EAD4C446A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3D015-5089-3C89-032E-927E15CC6779}"/>
              </a:ext>
            </a:extLst>
          </p:cNvPr>
          <p:cNvSpPr txBox="1"/>
          <p:nvPr/>
        </p:nvSpPr>
        <p:spPr>
          <a:xfrm>
            <a:off x="4953000" y="623317"/>
            <a:ext cx="815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0F056-C9F4-8F14-0FDF-703C415B3FCE}"/>
              </a:ext>
            </a:extLst>
          </p:cNvPr>
          <p:cNvSpPr txBox="1"/>
          <p:nvPr/>
        </p:nvSpPr>
        <p:spPr>
          <a:xfrm>
            <a:off x="844482" y="2250452"/>
            <a:ext cx="169926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amount of edible food is wasted every day by restaurants, hotels, supermarkets, and event organizers despite being safe for consumption.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food donation processes are often manual, fragmented, and lack a centralized platform, making coordination between donors and NGOs inefficient.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real-time communication results in delays in food pickup, increasing the chances of food spoilage and wastage.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do not have an efficient system to identify nearby donors or track the status of food donations.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D9BB6-CB0E-2B18-C0A4-037ED2E2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1E478-53D7-2517-F232-6EC42CA1AC34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4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40076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134D57F-4494-FDB7-7498-10E71BE43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9E799-D415-F36C-F350-6E05DB3EB429}"/>
              </a:ext>
            </a:extLst>
          </p:cNvPr>
          <p:cNvSpPr txBox="1"/>
          <p:nvPr/>
        </p:nvSpPr>
        <p:spPr>
          <a:xfrm>
            <a:off x="1562100" y="2615003"/>
            <a:ext cx="151638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/>
              <a:t>To develop a cloud-based platform that connects food donors with NGOs and food banks for efficient surplus food redistribution.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/>
              <a:t>To reduce food wastage by enabling real-time sharing and quick collection of surplus edible food.</a:t>
            </a:r>
          </a:p>
          <a:p>
            <a:pPr lvl="0"/>
            <a:endParaRPr lang="en-IN" sz="40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/>
              <a:t>To enable location-based matching between food donors and nearby recipient organizations.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/>
              <a:t>To provide real-time notifications and donation tracking for improved coordination and transparency.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98116-C16F-18EA-190A-2AA19D2B8685}"/>
              </a:ext>
            </a:extLst>
          </p:cNvPr>
          <p:cNvSpPr txBox="1"/>
          <p:nvPr/>
        </p:nvSpPr>
        <p:spPr>
          <a:xfrm>
            <a:off x="6172200" y="876300"/>
            <a:ext cx="449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0F7C4F40-ABF2-95DD-875E-4E22A50F8697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57F35C3E-0308-227A-D7AB-5FB32C2C3C3B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5A48B9-FAF1-F29B-05FD-37AAA419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24140-AB7E-3111-1508-6AD9330CAB69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3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55576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761780DF-02C7-1494-358E-213AA6037ACE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CF5FB739-A84E-0397-A310-AF099E76C098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60901-20C0-7D8E-1E3C-74AF02B26F6C}"/>
              </a:ext>
            </a:extLst>
          </p:cNvPr>
          <p:cNvSpPr txBox="1"/>
          <p:nvPr/>
        </p:nvSpPr>
        <p:spPr>
          <a:xfrm>
            <a:off x="4838700" y="192486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7A9-4AC2-174C-221B-4E77735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37618-D3B4-E8E3-C9C4-262A5C217E53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6</a:t>
            </a:r>
            <a:endParaRPr lang="en-IN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6F2D28-EBFD-F060-F1A4-B04A9E34C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778" y="1562100"/>
            <a:ext cx="15621000" cy="812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21BC0-998C-13E5-2AA6-F4693CC4FA32}"/>
              </a:ext>
            </a:extLst>
          </p:cNvPr>
          <p:cNvSpPr txBox="1"/>
          <p:nvPr/>
        </p:nvSpPr>
        <p:spPr>
          <a:xfrm>
            <a:off x="4572000" y="1028700"/>
            <a:ext cx="7010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561705-B205-212A-C98E-13387D604151}"/>
              </a:ext>
            </a:extLst>
          </p:cNvPr>
          <p:cNvSpPr txBox="1"/>
          <p:nvPr/>
        </p:nvSpPr>
        <p:spPr>
          <a:xfrm>
            <a:off x="685800" y="2489351"/>
            <a:ext cx="172212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ZeroWaste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is a cloud-based food redistribution platform that provides a centralized system for connecting food donors, NGOs, and administrators in real time.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restaurants, hotels, supermarkets, and event organizers to upload details of surplus food, including quantity, location, and expiry time, through a web or mobile application.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cloud-based matching engine automatically identifies nearby verified NGOs based on location, food availability, and pickup feasibility, ensuring timely collection before the food expires.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notifications, live donation tracking, and secure cloud storage improve communication, transparency, and efficient management of the entire food donation process.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D04AD4F-FA34-93F3-32BF-50971A089FDC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F078CDA-28F9-05F0-6B21-FA92E08808FD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83F98-A0F0-F481-62CF-4175E883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151B5-94DB-BCA9-2A6A-A4901CF44786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7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72222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88173-C312-3746-2E03-2C8D3523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6F6432F8-FF4B-8DC2-2653-165C7535C6BC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8ECA5C4E-CE43-C7DF-22E8-7ACF98D69F70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77A78-47FA-11FB-6FFA-85449D473871}"/>
              </a:ext>
            </a:extLst>
          </p:cNvPr>
          <p:cNvSpPr txBox="1"/>
          <p:nvPr/>
        </p:nvSpPr>
        <p:spPr>
          <a:xfrm>
            <a:off x="2211890" y="495300"/>
            <a:ext cx="14706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Food Donation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09479-DB58-A258-ACC8-5136D5B34D8C}"/>
              </a:ext>
            </a:extLst>
          </p:cNvPr>
          <p:cNvSpPr txBox="1"/>
          <p:nvPr/>
        </p:nvSpPr>
        <p:spPr>
          <a:xfrm>
            <a:off x="1066800" y="1769413"/>
            <a:ext cx="14554200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Restaurants, hotels, supermarkets, and event organizers can create accounts and securely log in. </a:t>
            </a: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Donors can enter food details such as food type, quantity, location, preparation time, and expiry time. </a:t>
            </a: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the available surplus food and its current status. </a:t>
            </a: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donor and food donation information is securely stored in the cloud database. </a:t>
            </a: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Donors can track whether their food has been accepted, collected, or delivered to the NGO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661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3263D9-CFAA-E7F5-729B-1FF7916A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877211-D5B0-0133-362F-0E1C37352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6" y="114300"/>
            <a:ext cx="18130127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1739F9-23F6-51E2-9774-EC1DAEF3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8C559F8-C03A-7226-F394-8A7E9A6124EF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F507FBFF-E057-E02C-4388-A7F807D7E70E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600490AC-9FC9-549E-919B-6D70040201AC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FAB85-69CE-200B-67C6-E6BA52C206FE}"/>
              </a:ext>
            </a:extLst>
          </p:cNvPr>
          <p:cNvSpPr txBox="1"/>
          <p:nvPr/>
        </p:nvSpPr>
        <p:spPr>
          <a:xfrm>
            <a:off x="1828800" y="242778"/>
            <a:ext cx="150896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Food Request and Distribution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5B438-DA6C-E665-ECD4-4F7B3E228D67}"/>
              </a:ext>
            </a:extLst>
          </p:cNvPr>
          <p:cNvSpPr txBox="1"/>
          <p:nvPr/>
        </p:nvSpPr>
        <p:spPr>
          <a:xfrm>
            <a:off x="1066800" y="2366436"/>
            <a:ext cx="149352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 and food banks can register and securely access the platform.</a:t>
            </a:r>
          </a:p>
          <a:p>
            <a:pPr lvl="0"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 can view nearby surplus food donations along with quantity, location, and expiry time. </a:t>
            </a: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suitable nearby NGOs based on food availability and location. </a:t>
            </a: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 can accept available donations and schedule the pickup. </a:t>
            </a: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 can update the status from accepted → picked up → delivered, allowing the donor and admin to monitor the complete redistribution process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47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3A074D-EDC2-1A5C-7CE0-FFA5BCAD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188F5-460C-AACA-E801-3B8FB5342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2" y="0"/>
            <a:ext cx="1827087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26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4DE0F0-122F-6FC0-891A-71989F7B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55662-7F2A-912D-28E5-B7710A27B9FD}"/>
              </a:ext>
            </a:extLst>
          </p:cNvPr>
          <p:cNvSpPr txBox="1"/>
          <p:nvPr/>
        </p:nvSpPr>
        <p:spPr>
          <a:xfrm>
            <a:off x="5791200" y="623317"/>
            <a:ext cx="579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21306EC6-2C93-0167-B44F-0D8137F1EF95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85CE1474-82E0-7D85-53B6-60418CB19309}"/>
              </a:ext>
            </a:extLst>
          </p:cNvPr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E524E-E4C3-F336-D06A-F4201418EF4A}"/>
              </a:ext>
            </a:extLst>
          </p:cNvPr>
          <p:cNvSpPr txBox="1"/>
          <p:nvPr/>
        </p:nvSpPr>
        <p:spPr>
          <a:xfrm>
            <a:off x="1257299" y="2552700"/>
            <a:ext cx="16002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 err="1"/>
              <a:t>ZeroWaste</a:t>
            </a:r>
            <a:r>
              <a:rPr lang="en-IN" sz="4000" dirty="0"/>
              <a:t> Connect provides a cloud-based platform for efficiently connecting food donors with NGOs and beneficiaries.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endParaRPr lang="en-IN" sz="4000" dirty="0"/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/>
              <a:t>It helps reduce food wastage by enabling timely collection and redistribution of surplus food.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endParaRPr lang="en-IN" sz="4000" dirty="0"/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/>
              <a:t>The system improves coordination, transparency, and real-time monitoring of food donations and deliveries.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endParaRPr lang="en-IN" sz="4000" dirty="0"/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/>
              <a:t>Cloud technology makes the platform scalable, accessible, and suitable for multiple locations.</a:t>
            </a:r>
          </a:p>
        </p:txBody>
      </p:sp>
    </p:spTree>
    <p:extLst>
      <p:ext uri="{BB962C8B-B14F-4D97-AF65-F5344CB8AC3E}">
        <p14:creationId xmlns:p14="http://schemas.microsoft.com/office/powerpoint/2010/main" val="337732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3AF00A-45CC-9E06-36DB-EAECBF91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37D427-E854-A48A-39D6-5EBD23122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01272"/>
              </p:ext>
            </p:extLst>
          </p:nvPr>
        </p:nvGraphicFramePr>
        <p:xfrm>
          <a:off x="1295400" y="1790700"/>
          <a:ext cx="15392400" cy="7995306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440177585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117443291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1710774144"/>
                    </a:ext>
                  </a:extLst>
                </a:gridCol>
              </a:tblGrid>
              <a:tr h="692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</a:t>
                      </a:r>
                      <a:endParaRPr lang="en-IN" sz="27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</a:t>
                      </a:r>
                      <a:endParaRPr lang="en-IN" sz="27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</a:t>
                      </a:r>
                      <a:r>
                        <a:rPr lang="en-IN" sz="27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ZeroWaste</a:t>
                      </a:r>
                      <a:r>
                        <a:rPr lang="en-IN" sz="27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Connect Supports It</a:t>
                      </a:r>
                      <a:endParaRPr lang="en-IN" sz="27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401040"/>
                  </a:ext>
                </a:extLst>
              </a:tr>
              <a:tr h="1195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Hunger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Redistributes surplus edible food to NGOs, food banks, and people in need.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703180"/>
                  </a:ext>
                </a:extLst>
              </a:tr>
              <a:tr h="1195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Responsible Consumption and 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food waste by efficiently redistributing unused edible food.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192684"/>
                  </a:ext>
                </a:extLst>
              </a:tr>
              <a:tr h="1708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Climate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Reducing food waste helps minimize greenhouse-gas emissions associated with food disposal.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94898"/>
                  </a:ext>
                </a:extLst>
              </a:tr>
              <a:tr h="1195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Sustainable Cities and Communities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sustainable local communities through organized food redistribution.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075167"/>
                  </a:ext>
                </a:extLst>
              </a:tr>
              <a:tr h="1708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Partnerships for the Goals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restaurants, supermarkets, NGOs, food banks, and community organizations through one platform.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152767"/>
                  </a:ext>
                </a:extLst>
              </a:tr>
            </a:tbl>
          </a:graphicData>
        </a:graphic>
      </p:graphicFrame>
      <p:sp>
        <p:nvSpPr>
          <p:cNvPr id="6" name="Freeform 7">
            <a:extLst>
              <a:ext uri="{FF2B5EF4-FFF2-40B4-BE49-F238E27FC236}">
                <a16:creationId xmlns:a16="http://schemas.microsoft.com/office/drawing/2014/main" id="{D5912570-2CE0-4E98-44A9-08C5CEB0D5EB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ACC66AFB-9821-8B85-333F-E53ED5FC02FC}"/>
              </a:ext>
            </a:extLst>
          </p:cNvPr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08F3F-835A-7865-045B-0BCFA80E86E7}"/>
              </a:ext>
            </a:extLst>
          </p:cNvPr>
          <p:cNvSpPr txBox="1"/>
          <p:nvPr/>
        </p:nvSpPr>
        <p:spPr>
          <a:xfrm>
            <a:off x="6324600" y="246102"/>
            <a:ext cx="685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Goals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394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7AF615-A513-2D30-691D-6B3864D5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758DA-E340-9412-2B0C-76C4B4797AA5}"/>
              </a:ext>
            </a:extLst>
          </p:cNvPr>
          <p:cNvSpPr txBox="1"/>
          <p:nvPr/>
        </p:nvSpPr>
        <p:spPr>
          <a:xfrm>
            <a:off x="6019800" y="647700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37A43F30-C473-D4B4-8A9F-858D40354BD8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AD97241-CF0F-E89F-FCF0-1FE91E407F93}"/>
              </a:ext>
            </a:extLst>
          </p:cNvPr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8AF85-9AC3-4D93-4D90-445E10BA3E0C}"/>
              </a:ext>
            </a:extLst>
          </p:cNvPr>
          <p:cNvSpPr txBox="1"/>
          <p:nvPr/>
        </p:nvSpPr>
        <p:spPr>
          <a:xfrm>
            <a:off x="1333500" y="2491650"/>
            <a:ext cx="156210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predict food requirements at different locations and help match surplus food with people or organizations who need it. 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automatically match donors, NGOs, and beneficiaries based on food quantity, location, urgency, and expiry time. 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 can monitor food temperature, freshness, and storage conditions during transportation. 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be expanded to connect restaurants, hotels, supermarkets, NGOs, food banks, and government organizations across multiple cities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499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DC70A-4464-1CF3-64E0-673A2782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CC574-B519-2702-DC69-05E5B13367AF}"/>
              </a:ext>
            </a:extLst>
          </p:cNvPr>
          <p:cNvSpPr txBox="1"/>
          <p:nvPr/>
        </p:nvSpPr>
        <p:spPr>
          <a:xfrm>
            <a:off x="6248400" y="363683"/>
            <a:ext cx="5410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4F47C811-4FD7-0D7F-1F07-DDC456854A1D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81757443-073B-EA14-8899-91BE1F6F6469}"/>
              </a:ext>
            </a:extLst>
          </p:cNvPr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CF3DD-BBFE-284F-9EF2-A56B31DBAACC}"/>
              </a:ext>
            </a:extLst>
          </p:cNvPr>
          <p:cNvSpPr txBox="1"/>
          <p:nvPr/>
        </p:nvSpPr>
        <p:spPr>
          <a:xfrm>
            <a:off x="1613732" y="2445466"/>
            <a:ext cx="15060536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 Environment Programme, Food Waste Index Report 2024, UNEP, Nairobi, Kenya, 2024.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Nations, Sustainable Development Goals: Goal 2 – Zero Hunger, United Nations, 2024.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Nations, Sustainable Development Goals: Goal 12 – Responsible Consumption and Production, United Nations, 2024.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FAO, IFAD, UNICEF, WFP, and WHO, The State of Food Security and Nutrition in the World 2024, Food and Agriculture Organization of the United Nations, Rome, 2024.</a:t>
            </a:r>
          </a:p>
          <a:p>
            <a:pPr marL="571500" lvl="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R. Delgado, A. S. L. Lima, and J. M. C. Santos, “Food waste management and redistribution: A systematic review,” Journal of Cleaner Production, vol. 425, 2023.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160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9956" y="5944026"/>
            <a:ext cx="19947911" cy="7894014"/>
            <a:chOff x="0" y="0"/>
            <a:chExt cx="5039628" cy="19943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9628" cy="1994339"/>
            </a:xfrm>
            <a:custGeom>
              <a:avLst/>
              <a:gdLst/>
              <a:ahLst/>
              <a:cxnLst/>
              <a:rect l="l" t="t" r="r" b="b"/>
              <a:pathLst>
                <a:path w="5039628" h="1994339">
                  <a:moveTo>
                    <a:pt x="0" y="0"/>
                  </a:moveTo>
                  <a:lnTo>
                    <a:pt x="5039628" y="0"/>
                  </a:lnTo>
                  <a:lnTo>
                    <a:pt x="5039628" y="1994339"/>
                  </a:lnTo>
                  <a:lnTo>
                    <a:pt x="0" y="1994339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39628" cy="20514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571718">
            <a:off x="-2175741" y="8229600"/>
            <a:ext cx="3992153" cy="4114800"/>
          </a:xfrm>
          <a:custGeom>
            <a:avLst/>
            <a:gdLst/>
            <a:ahLst/>
            <a:cxnLst/>
            <a:rect l="l" t="t" r="r" b="b"/>
            <a:pathLst>
              <a:path w="3992153" h="4114800">
                <a:moveTo>
                  <a:pt x="0" y="0"/>
                </a:moveTo>
                <a:lnTo>
                  <a:pt x="3992154" y="0"/>
                </a:lnTo>
                <a:lnTo>
                  <a:pt x="3992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8100000">
            <a:off x="15981942" y="-1788025"/>
            <a:ext cx="3992153" cy="4114800"/>
          </a:xfrm>
          <a:custGeom>
            <a:avLst/>
            <a:gdLst/>
            <a:ahLst/>
            <a:cxnLst/>
            <a:rect l="l" t="t" r="r" b="b"/>
            <a:pathLst>
              <a:path w="3992153" h="4114800">
                <a:moveTo>
                  <a:pt x="0" y="0"/>
                </a:moveTo>
                <a:lnTo>
                  <a:pt x="3992153" y="0"/>
                </a:lnTo>
                <a:lnTo>
                  <a:pt x="39921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18080" y="3040988"/>
            <a:ext cx="9684591" cy="2152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8798"/>
              </a:lnSpc>
              <a:spcBef>
                <a:spcPct val="0"/>
              </a:spcBef>
            </a:pPr>
            <a:r>
              <a:rPr lang="en-US" sz="114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lang="en-US" sz="1146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3183332" y="3574388"/>
            <a:ext cx="1786588" cy="1676145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9" y="0"/>
                </a:lnTo>
                <a:lnTo>
                  <a:pt x="1786589" y="1676145"/>
                </a:lnTo>
                <a:lnTo>
                  <a:pt x="0" y="1676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3DF85E-9DF7-7110-E339-508D0150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1375</Words>
  <Application>Microsoft Office PowerPoint</Application>
  <PresentationFormat>Custom</PresentationFormat>
  <Paragraphs>158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Times New Roman</vt:lpstr>
      <vt:lpstr>Arial</vt:lpstr>
      <vt:lpstr>Times New Roman </vt:lpstr>
      <vt:lpstr>Wingdings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9</dc:title>
  <dc:creator>Reshma B S</dc:creator>
  <cp:lastModifiedBy>Athavan K</cp:lastModifiedBy>
  <cp:revision>17</cp:revision>
  <dcterms:created xsi:type="dcterms:W3CDTF">2006-08-16T00:00:00Z</dcterms:created>
  <dcterms:modified xsi:type="dcterms:W3CDTF">2026-09-01T08:20:38Z</dcterms:modified>
  <dc:identifier>DAG7rX9f_jA</dc:identifier>
</cp:coreProperties>
</file>